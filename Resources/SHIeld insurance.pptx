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oper Hewitt Bold" panose="020B060402020202020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charset="0"/>
      <p:regular r:id="rId23"/>
    </p:embeddedFont>
    <p:embeddedFont>
      <p:font typeface="Poppins Italics" panose="020B0604020202020204" charset="0"/>
      <p:regular r:id="rId24"/>
    </p:embeddedFont>
    <p:embeddedFont>
      <p:font typeface="Poppins Medium" panose="00000600000000000000" pitchFamily="2" charset="0"/>
      <p:regular r:id="rId25"/>
      <p:italic r:id="rId26"/>
    </p:embeddedFont>
    <p:embeddedFont>
      <p:font typeface="Poppins Semi-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23945" y="-135979"/>
            <a:ext cx="3376691" cy="12409946"/>
            <a:chOff x="0" y="0"/>
            <a:chExt cx="889334" cy="32684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9334" cy="3268463"/>
            </a:xfrm>
            <a:custGeom>
              <a:avLst/>
              <a:gdLst/>
              <a:ahLst/>
              <a:cxnLst/>
              <a:rect l="l" t="t" r="r" b="b"/>
              <a:pathLst>
                <a:path w="889334" h="3268463">
                  <a:moveTo>
                    <a:pt x="0" y="0"/>
                  </a:moveTo>
                  <a:lnTo>
                    <a:pt x="889334" y="0"/>
                  </a:lnTo>
                  <a:lnTo>
                    <a:pt x="889334" y="3268463"/>
                  </a:lnTo>
                  <a:lnTo>
                    <a:pt x="0" y="3268463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889334" cy="3287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30643" y="0"/>
            <a:ext cx="7728657" cy="10287000"/>
            <a:chOff x="0" y="0"/>
            <a:chExt cx="9583551" cy="127559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83551" cy="12755901"/>
            </a:xfrm>
            <a:custGeom>
              <a:avLst/>
              <a:gdLst/>
              <a:ahLst/>
              <a:cxnLst/>
              <a:rect l="l" t="t" r="r" b="b"/>
              <a:pathLst>
                <a:path w="9583551" h="12755901">
                  <a:moveTo>
                    <a:pt x="8585264" y="0"/>
                  </a:moveTo>
                  <a:lnTo>
                    <a:pt x="998287" y="0"/>
                  </a:lnTo>
                  <a:cubicBezTo>
                    <a:pt x="447232" y="0"/>
                    <a:pt x="0" y="595275"/>
                    <a:pt x="0" y="1328740"/>
                  </a:cubicBezTo>
                  <a:lnTo>
                    <a:pt x="0" y="12755901"/>
                  </a:lnTo>
                  <a:lnTo>
                    <a:pt x="8585264" y="12755901"/>
                  </a:lnTo>
                  <a:cubicBezTo>
                    <a:pt x="9136318" y="12755901"/>
                    <a:pt x="9583551" y="12160626"/>
                    <a:pt x="9583551" y="11427161"/>
                  </a:cubicBezTo>
                  <a:lnTo>
                    <a:pt x="9583551" y="0"/>
                  </a:lnTo>
                  <a:lnTo>
                    <a:pt x="8585264" y="0"/>
                  </a:lnTo>
                  <a:close/>
                </a:path>
              </a:pathLst>
            </a:custGeom>
            <a:blipFill>
              <a:blip r:embed="rId2"/>
              <a:stretch>
                <a:fillRect t="-86" b="-8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028700" y="9256395"/>
            <a:ext cx="361255" cy="344095"/>
          </a:xfrm>
          <a:custGeom>
            <a:avLst/>
            <a:gdLst/>
            <a:ahLst/>
            <a:cxnLst/>
            <a:rect l="l" t="t" r="r" b="b"/>
            <a:pathLst>
              <a:path w="361255" h="344095">
                <a:moveTo>
                  <a:pt x="0" y="0"/>
                </a:moveTo>
                <a:lnTo>
                  <a:pt x="361255" y="0"/>
                </a:lnTo>
                <a:lnTo>
                  <a:pt x="361255" y="344095"/>
                </a:lnTo>
                <a:lnTo>
                  <a:pt x="0" y="344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9333" y="526751"/>
            <a:ext cx="1003897" cy="1003897"/>
          </a:xfrm>
          <a:custGeom>
            <a:avLst/>
            <a:gdLst/>
            <a:ahLst/>
            <a:cxnLst/>
            <a:rect l="l" t="t" r="r" b="b"/>
            <a:pathLst>
              <a:path w="1003897" h="1003897">
                <a:moveTo>
                  <a:pt x="0" y="0"/>
                </a:moveTo>
                <a:lnTo>
                  <a:pt x="1003897" y="0"/>
                </a:lnTo>
                <a:lnTo>
                  <a:pt x="1003897" y="1003898"/>
                </a:lnTo>
                <a:lnTo>
                  <a:pt x="0" y="1003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9333" y="2784053"/>
            <a:ext cx="7694975" cy="379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98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SHIELD INSURANCE</a:t>
            </a:r>
          </a:p>
          <a:p>
            <a:pPr algn="l">
              <a:lnSpc>
                <a:spcPts val="9016"/>
              </a:lnSpc>
            </a:pPr>
            <a:r>
              <a:rPr lang="en-US" sz="98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REPORT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912063"/>
            <a:ext cx="2408572" cy="3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80"/>
              </a:lnSpc>
              <a:spcBef>
                <a:spcPct val="0"/>
              </a:spcBef>
            </a:pPr>
            <a:r>
              <a:rPr lang="en-US" sz="2092" spc="-81">
                <a:solidFill>
                  <a:srgbClr val="0D7D8A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4573" y="9267825"/>
            <a:ext cx="1972699" cy="33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0"/>
              </a:lnSpc>
              <a:spcBef>
                <a:spcPct val="0"/>
              </a:spcBef>
            </a:pPr>
            <a:r>
              <a:rPr lang="en-US" sz="2321" i="1" spc="-90">
                <a:solidFill>
                  <a:srgbClr val="FF961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Priya Jangid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-793695"/>
            <a:ext cx="1796499" cy="12409946"/>
            <a:chOff x="0" y="0"/>
            <a:chExt cx="473152" cy="32684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3152" cy="3268463"/>
            </a:xfrm>
            <a:custGeom>
              <a:avLst/>
              <a:gdLst/>
              <a:ahLst/>
              <a:cxnLst/>
              <a:rect l="l" t="t" r="r" b="b"/>
              <a:pathLst>
                <a:path w="473152" h="3268463">
                  <a:moveTo>
                    <a:pt x="0" y="0"/>
                  </a:moveTo>
                  <a:lnTo>
                    <a:pt x="473152" y="0"/>
                  </a:lnTo>
                  <a:lnTo>
                    <a:pt x="473152" y="3268463"/>
                  </a:lnTo>
                  <a:lnTo>
                    <a:pt x="0" y="3268463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3152" cy="3287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40225" y="1152665"/>
            <a:ext cx="8115300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AGENDA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9491" y="3289137"/>
            <a:ext cx="7014509" cy="300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just">
              <a:lnSpc>
                <a:spcPts val="2615"/>
              </a:lnSpc>
              <a:buFont typeface="Arial"/>
              <a:buChar char="•"/>
            </a:pPr>
            <a:r>
              <a:rPr lang="en-US" sz="2399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Company Introduction</a:t>
            </a:r>
          </a:p>
          <a:p>
            <a:pPr algn="just">
              <a:lnSpc>
                <a:spcPts val="2615"/>
              </a:lnSpc>
            </a:pPr>
            <a:endParaRPr lang="en-US" sz="2399" dirty="0">
              <a:solidFill>
                <a:srgbClr val="0D7D8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518158" lvl="1" indent="-259079" algn="just">
              <a:lnSpc>
                <a:spcPts val="2615"/>
              </a:lnSpc>
              <a:buFont typeface="Arial"/>
              <a:buChar char="•"/>
            </a:pPr>
            <a:r>
              <a:rPr lang="en-US" sz="2399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</a:t>
            </a:r>
          </a:p>
          <a:p>
            <a:pPr algn="just">
              <a:lnSpc>
                <a:spcPts val="2615"/>
              </a:lnSpc>
            </a:pPr>
            <a:endParaRPr lang="en-US" sz="2399" dirty="0">
              <a:solidFill>
                <a:srgbClr val="0D7D8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518158" lvl="1" indent="-259079" algn="just">
              <a:lnSpc>
                <a:spcPts val="2615"/>
              </a:lnSpc>
              <a:buFont typeface="Arial"/>
              <a:buChar char="•"/>
            </a:pPr>
            <a:r>
              <a:rPr lang="en-US" sz="2399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Objective</a:t>
            </a:r>
          </a:p>
          <a:p>
            <a:pPr algn="just">
              <a:lnSpc>
                <a:spcPts val="2615"/>
              </a:lnSpc>
            </a:pPr>
            <a:endParaRPr lang="en-US" sz="2399" dirty="0">
              <a:solidFill>
                <a:srgbClr val="0D7D8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518158" lvl="1" indent="-259079" algn="just">
              <a:lnSpc>
                <a:spcPts val="2615"/>
              </a:lnSpc>
              <a:buFont typeface="Arial"/>
              <a:buChar char="•"/>
            </a:pPr>
            <a:r>
              <a:rPr lang="en-US" sz="2399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Dashboard </a:t>
            </a:r>
          </a:p>
          <a:p>
            <a:pPr algn="just">
              <a:lnSpc>
                <a:spcPts val="2615"/>
              </a:lnSpc>
            </a:pPr>
            <a:endParaRPr lang="en-US" sz="2399" dirty="0">
              <a:solidFill>
                <a:srgbClr val="0D7D8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518158" lvl="1" indent="-259079" algn="just">
              <a:lnSpc>
                <a:spcPts val="2615"/>
              </a:lnSpc>
              <a:buFont typeface="Arial"/>
              <a:buChar char="•"/>
            </a:pPr>
            <a:r>
              <a:rPr lang="en-US" sz="2399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Insights &amp; Recommendations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23945" y="-456385"/>
            <a:ext cx="7476810" cy="12142457"/>
            <a:chOff x="0" y="0"/>
            <a:chExt cx="1969201" cy="31980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9201" cy="3198013"/>
            </a:xfrm>
            <a:custGeom>
              <a:avLst/>
              <a:gdLst/>
              <a:ahLst/>
              <a:cxnLst/>
              <a:rect l="l" t="t" r="r" b="b"/>
              <a:pathLst>
                <a:path w="1969201" h="3198013">
                  <a:moveTo>
                    <a:pt x="0" y="0"/>
                  </a:moveTo>
                  <a:lnTo>
                    <a:pt x="1969201" y="0"/>
                  </a:lnTo>
                  <a:lnTo>
                    <a:pt x="1969201" y="3198013"/>
                  </a:lnTo>
                  <a:lnTo>
                    <a:pt x="0" y="3198013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969201" cy="3217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90296" y="0"/>
            <a:ext cx="8115300" cy="10939170"/>
            <a:chOff x="0" y="0"/>
            <a:chExt cx="9822440" cy="132403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22440" cy="13240342"/>
            </a:xfrm>
            <a:custGeom>
              <a:avLst/>
              <a:gdLst/>
              <a:ahLst/>
              <a:cxnLst/>
              <a:rect l="l" t="t" r="r" b="b"/>
              <a:pathLst>
                <a:path w="9822440" h="13240342">
                  <a:moveTo>
                    <a:pt x="9822440" y="0"/>
                  </a:moveTo>
                  <a:lnTo>
                    <a:pt x="9822440" y="13240342"/>
                  </a:lnTo>
                  <a:lnTo>
                    <a:pt x="1893767" y="1324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864" r="-3986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959215"/>
            <a:ext cx="7515043" cy="327785"/>
            <a:chOff x="0" y="0"/>
            <a:chExt cx="1979270" cy="863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79270" cy="86330"/>
            </a:xfrm>
            <a:custGeom>
              <a:avLst/>
              <a:gdLst/>
              <a:ahLst/>
              <a:cxnLst/>
              <a:rect l="l" t="t" r="r" b="b"/>
              <a:pathLst>
                <a:path w="1979270" h="86330">
                  <a:moveTo>
                    <a:pt x="0" y="0"/>
                  </a:moveTo>
                  <a:lnTo>
                    <a:pt x="1979270" y="0"/>
                  </a:lnTo>
                  <a:lnTo>
                    <a:pt x="1979270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979270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919015"/>
            <a:ext cx="7825280" cy="176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6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ABOUT</a:t>
            </a:r>
          </a:p>
          <a:p>
            <a:pPr algn="l">
              <a:lnSpc>
                <a:spcPts val="6072"/>
              </a:lnSpc>
            </a:pPr>
            <a:r>
              <a:rPr lang="en-US" sz="66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SHIELD INSURANCE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347699"/>
            <a:ext cx="8353325" cy="233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15"/>
              </a:lnSpc>
              <a:spcBef>
                <a:spcPct val="0"/>
              </a:spcBef>
            </a:pPr>
            <a:r>
              <a:rPr lang="en-US" sz="2399" spc="-93" dirty="0">
                <a:solidFill>
                  <a:srgbClr val="0D7D8A"/>
                </a:solidFill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Shi</a:t>
            </a:r>
            <a:r>
              <a:rPr lang="en-US" sz="2399" u="none" strike="noStrike" spc="-93" dirty="0">
                <a:solidFill>
                  <a:srgbClr val="0D7D8A"/>
                </a:solidFill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eld Insurance is a trusted insurance provider offering a wide range of insurance policies tailored for all age groups. </a:t>
            </a:r>
          </a:p>
          <a:p>
            <a:pPr marL="0" lvl="0" indent="0" algn="just">
              <a:lnSpc>
                <a:spcPts val="2615"/>
              </a:lnSpc>
              <a:spcBef>
                <a:spcPct val="0"/>
              </a:spcBef>
            </a:pPr>
            <a:endParaRPr lang="en-US" sz="2399" u="none" strike="noStrike" spc="-93" dirty="0">
              <a:solidFill>
                <a:srgbClr val="0D7D8A"/>
              </a:solidFill>
              <a:latin typeface="Poppins" panose="00000500000000000000" pitchFamily="2" charset="0"/>
              <a:ea typeface="Poppins Medium"/>
              <a:cs typeface="Poppins" panose="00000500000000000000" pitchFamily="2" charset="0"/>
              <a:sym typeface="Poppins Medium"/>
            </a:endParaRPr>
          </a:p>
          <a:p>
            <a:pPr marL="0" lvl="0" indent="0" algn="just">
              <a:lnSpc>
                <a:spcPts val="2615"/>
              </a:lnSpc>
              <a:spcBef>
                <a:spcPct val="0"/>
              </a:spcBef>
            </a:pPr>
            <a:r>
              <a:rPr lang="en-US" sz="2399" u="none" strike="noStrike" spc="-93" dirty="0">
                <a:solidFill>
                  <a:srgbClr val="0D7D8A"/>
                </a:solidFill>
                <a:latin typeface="Poppins" panose="00000500000000000000" pitchFamily="2" charset="0"/>
                <a:ea typeface="Poppins Medium"/>
                <a:cs typeface="Poppins" panose="00000500000000000000" pitchFamily="2" charset="0"/>
                <a:sym typeface="Poppins Medium"/>
              </a:rPr>
              <a:t>With a strong focus on customer satisfaction, the company is committed to delivering reliable coverage, personalized service, and protection at every stage of life. </a:t>
            </a:r>
          </a:p>
          <a:p>
            <a:pPr marL="0" lvl="0" indent="0" algn="just">
              <a:lnSpc>
                <a:spcPts val="2615"/>
              </a:lnSpc>
              <a:spcBef>
                <a:spcPct val="0"/>
              </a:spcBef>
            </a:pPr>
            <a:endParaRPr lang="en-US" sz="2399" u="none" strike="noStrike" spc="-93" dirty="0">
              <a:solidFill>
                <a:srgbClr val="0D7D8A"/>
              </a:solidFill>
              <a:latin typeface="Poppins" panose="00000500000000000000" pitchFamily="2" charset="0"/>
              <a:ea typeface="Poppins Medium"/>
              <a:cs typeface="Poppins" panose="00000500000000000000" pitchFamily="2" charset="0"/>
              <a:sym typeface="Poppins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16475" y="-2211852"/>
            <a:ext cx="1818533" cy="7476637"/>
            <a:chOff x="0" y="0"/>
            <a:chExt cx="478955" cy="19691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124340" y="5941902"/>
            <a:ext cx="1818533" cy="7476637"/>
            <a:chOff x="0" y="0"/>
            <a:chExt cx="478955" cy="19691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r>
                <a:rPr lang="en-US" sz="1453" spc="-7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23353" y="1507417"/>
            <a:ext cx="10441295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REGIONAL PRESENCE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033761"/>
            <a:ext cx="16148410" cy="2927890"/>
            <a:chOff x="0" y="0"/>
            <a:chExt cx="21531213" cy="39038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88254" cy="3074556"/>
            </a:xfrm>
            <a:custGeom>
              <a:avLst/>
              <a:gdLst/>
              <a:ahLst/>
              <a:cxnLst/>
              <a:rect l="l" t="t" r="r" b="b"/>
              <a:pathLst>
                <a:path w="4088254" h="3074556">
                  <a:moveTo>
                    <a:pt x="0" y="0"/>
                  </a:moveTo>
                  <a:lnTo>
                    <a:pt x="4088254" y="0"/>
                  </a:lnTo>
                  <a:lnTo>
                    <a:pt x="4088254" y="3074556"/>
                  </a:lnTo>
                  <a:lnTo>
                    <a:pt x="0" y="3074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16" r="-962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532754" y="0"/>
              <a:ext cx="4099408" cy="3074556"/>
            </a:xfrm>
            <a:custGeom>
              <a:avLst/>
              <a:gdLst/>
              <a:ahLst/>
              <a:cxnLst/>
              <a:rect l="l" t="t" r="r" b="b"/>
              <a:pathLst>
                <a:path w="4099408" h="3074556">
                  <a:moveTo>
                    <a:pt x="0" y="0"/>
                  </a:moveTo>
                  <a:lnTo>
                    <a:pt x="4099407" y="0"/>
                  </a:lnTo>
                  <a:lnTo>
                    <a:pt x="4099407" y="3074556"/>
                  </a:lnTo>
                  <a:lnTo>
                    <a:pt x="0" y="3074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9076661" y="0"/>
              <a:ext cx="4099408" cy="3074556"/>
            </a:xfrm>
            <a:custGeom>
              <a:avLst/>
              <a:gdLst/>
              <a:ahLst/>
              <a:cxnLst/>
              <a:rect l="l" t="t" r="r" b="b"/>
              <a:pathLst>
                <a:path w="4099408" h="3074556">
                  <a:moveTo>
                    <a:pt x="0" y="0"/>
                  </a:moveTo>
                  <a:lnTo>
                    <a:pt x="4099408" y="0"/>
                  </a:lnTo>
                  <a:lnTo>
                    <a:pt x="4099408" y="3074556"/>
                  </a:lnTo>
                  <a:lnTo>
                    <a:pt x="0" y="3074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92" r="-7692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620569" y="0"/>
              <a:ext cx="3519374" cy="3074556"/>
            </a:xfrm>
            <a:custGeom>
              <a:avLst/>
              <a:gdLst/>
              <a:ahLst/>
              <a:cxnLst/>
              <a:rect l="l" t="t" r="r" b="b"/>
              <a:pathLst>
                <a:path w="3519374" h="3074556">
                  <a:moveTo>
                    <a:pt x="0" y="0"/>
                  </a:moveTo>
                  <a:lnTo>
                    <a:pt x="3519374" y="0"/>
                  </a:lnTo>
                  <a:lnTo>
                    <a:pt x="3519374" y="3074556"/>
                  </a:lnTo>
                  <a:lnTo>
                    <a:pt x="0" y="3074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643" b="-25476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7584443" y="0"/>
              <a:ext cx="3946770" cy="3074556"/>
            </a:xfrm>
            <a:custGeom>
              <a:avLst/>
              <a:gdLst/>
              <a:ahLst/>
              <a:cxnLst/>
              <a:rect l="l" t="t" r="r" b="b"/>
              <a:pathLst>
                <a:path w="3946770" h="3074556">
                  <a:moveTo>
                    <a:pt x="0" y="0"/>
                  </a:moveTo>
                  <a:lnTo>
                    <a:pt x="3946770" y="0"/>
                  </a:lnTo>
                  <a:lnTo>
                    <a:pt x="3946770" y="3074556"/>
                  </a:lnTo>
                  <a:lnTo>
                    <a:pt x="0" y="3074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565" r="-2396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3459790"/>
              <a:ext cx="4088254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MUMBAI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32754" y="3459790"/>
              <a:ext cx="4099408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INDORE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6661" y="3459790"/>
              <a:ext cx="4099408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     HYDERABAD   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620569" y="3459790"/>
              <a:ext cx="3519374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     CHENNAI 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84443" y="3459790"/>
              <a:ext cx="3946770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 DELHI - NCR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16475" y="-2211852"/>
            <a:ext cx="1818533" cy="7476637"/>
            <a:chOff x="0" y="0"/>
            <a:chExt cx="478955" cy="19691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124340" y="5941902"/>
            <a:ext cx="1818533" cy="7476637"/>
            <a:chOff x="0" y="0"/>
            <a:chExt cx="478955" cy="19691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99341" y="1022163"/>
            <a:ext cx="13089319" cy="989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7"/>
              </a:lnSpc>
            </a:pPr>
            <a:r>
              <a:rPr lang="en-US" sz="6399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MULTICHANNEL SALES STRATEGY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481742" y="2133544"/>
            <a:ext cx="7324515" cy="7124756"/>
            <a:chOff x="0" y="0"/>
            <a:chExt cx="9766020" cy="94996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66020" cy="9499674"/>
            </a:xfrm>
            <a:custGeom>
              <a:avLst/>
              <a:gdLst/>
              <a:ahLst/>
              <a:cxnLst/>
              <a:rect l="l" t="t" r="r" b="b"/>
              <a:pathLst>
                <a:path w="9766020" h="9499674">
                  <a:moveTo>
                    <a:pt x="0" y="0"/>
                  </a:moveTo>
                  <a:lnTo>
                    <a:pt x="9766020" y="0"/>
                  </a:lnTo>
                  <a:lnTo>
                    <a:pt x="9766020" y="9499674"/>
                  </a:lnTo>
                  <a:lnTo>
                    <a:pt x="0" y="9499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738033"/>
              <a:ext cx="4088254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OFFLINE - DIRECT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418857"/>
              <a:ext cx="4088254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OFFLINE  - 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77767" y="1738033"/>
              <a:ext cx="4088254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ONLINE - APP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77767" y="7418857"/>
              <a:ext cx="4088254" cy="444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8"/>
                </a:lnSpc>
              </a:pPr>
              <a:r>
                <a:rPr lang="en-US" sz="2400" b="1">
                  <a:solidFill>
                    <a:srgbClr val="0D7D8A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ONLINE - WEBSITE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0733" y="2216882"/>
            <a:ext cx="15249202" cy="4603607"/>
            <a:chOff x="0" y="0"/>
            <a:chExt cx="20332269" cy="613814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923597" cy="6138142"/>
              <a:chOff x="0" y="0"/>
              <a:chExt cx="1960217" cy="12124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0217" cy="1212473"/>
              </a:xfrm>
              <a:custGeom>
                <a:avLst/>
                <a:gdLst/>
                <a:ahLst/>
                <a:cxnLst/>
                <a:rect l="l" t="t" r="r" b="b"/>
                <a:pathLst>
                  <a:path w="1960217" h="1212473">
                    <a:moveTo>
                      <a:pt x="32246" y="0"/>
                    </a:moveTo>
                    <a:lnTo>
                      <a:pt x="1927970" y="0"/>
                    </a:lnTo>
                    <a:cubicBezTo>
                      <a:pt x="1936522" y="0"/>
                      <a:pt x="1944725" y="3397"/>
                      <a:pt x="1950772" y="9445"/>
                    </a:cubicBezTo>
                    <a:cubicBezTo>
                      <a:pt x="1956819" y="15492"/>
                      <a:pt x="1960217" y="23694"/>
                      <a:pt x="1960217" y="32246"/>
                    </a:cubicBezTo>
                    <a:lnTo>
                      <a:pt x="1960217" y="1180226"/>
                    </a:lnTo>
                    <a:cubicBezTo>
                      <a:pt x="1960217" y="1188779"/>
                      <a:pt x="1956819" y="1196981"/>
                      <a:pt x="1950772" y="1203028"/>
                    </a:cubicBezTo>
                    <a:cubicBezTo>
                      <a:pt x="1944725" y="1209075"/>
                      <a:pt x="1936522" y="1212473"/>
                      <a:pt x="1927970" y="1212473"/>
                    </a:cubicBezTo>
                    <a:lnTo>
                      <a:pt x="32246" y="1212473"/>
                    </a:lnTo>
                    <a:cubicBezTo>
                      <a:pt x="23694" y="1212473"/>
                      <a:pt x="15492" y="1209075"/>
                      <a:pt x="9445" y="1203028"/>
                    </a:cubicBezTo>
                    <a:cubicBezTo>
                      <a:pt x="3397" y="1196981"/>
                      <a:pt x="0" y="1188779"/>
                      <a:pt x="0" y="1180226"/>
                    </a:cubicBezTo>
                    <a:lnTo>
                      <a:pt x="0" y="32246"/>
                    </a:lnTo>
                    <a:cubicBezTo>
                      <a:pt x="0" y="23694"/>
                      <a:pt x="3397" y="15492"/>
                      <a:pt x="9445" y="9445"/>
                    </a:cubicBezTo>
                    <a:cubicBezTo>
                      <a:pt x="15492" y="3397"/>
                      <a:pt x="23694" y="0"/>
                      <a:pt x="322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rnd">
                <a:solidFill>
                  <a:srgbClr val="0D7D8A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1960217" cy="1231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87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180233" y="1863322"/>
              <a:ext cx="7422823" cy="1772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16"/>
                </a:lnSpc>
                <a:spcBef>
                  <a:spcPct val="0"/>
                </a:spcBef>
              </a:pPr>
              <a:r>
                <a:rPr lang="en-US" sz="2400" spc="-93">
                  <a:solidFill>
                    <a:srgbClr val="0D7D8A"/>
                  </a:solidFill>
                  <a:latin typeface="Poppins"/>
                  <a:ea typeface="Poppins"/>
                  <a:cs typeface="Poppins"/>
                  <a:sym typeface="Poppins"/>
                </a:rPr>
                <a:t>Shield Insurance aims to leverage its data more effectively to drive data-informed decision-making and enhance overall business strategy.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51742"/>
              <a:ext cx="9783289" cy="9641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16"/>
                </a:lnSpc>
              </a:pPr>
              <a:r>
                <a:rPr lang="en-US" sz="4800" b="1">
                  <a:solidFill>
                    <a:srgbClr val="0D7D8A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PROBLEM STATEMENT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408673" y="0"/>
              <a:ext cx="9923597" cy="6138142"/>
              <a:chOff x="0" y="0"/>
              <a:chExt cx="1960217" cy="121247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60217" cy="1212473"/>
              </a:xfrm>
              <a:custGeom>
                <a:avLst/>
                <a:gdLst/>
                <a:ahLst/>
                <a:cxnLst/>
                <a:rect l="l" t="t" r="r" b="b"/>
                <a:pathLst>
                  <a:path w="1960217" h="1212473">
                    <a:moveTo>
                      <a:pt x="32246" y="0"/>
                    </a:moveTo>
                    <a:lnTo>
                      <a:pt x="1927970" y="0"/>
                    </a:lnTo>
                    <a:cubicBezTo>
                      <a:pt x="1936522" y="0"/>
                      <a:pt x="1944725" y="3397"/>
                      <a:pt x="1950772" y="9445"/>
                    </a:cubicBezTo>
                    <a:cubicBezTo>
                      <a:pt x="1956819" y="15492"/>
                      <a:pt x="1960217" y="23694"/>
                      <a:pt x="1960217" y="32246"/>
                    </a:cubicBezTo>
                    <a:lnTo>
                      <a:pt x="1960217" y="1180226"/>
                    </a:lnTo>
                    <a:cubicBezTo>
                      <a:pt x="1960217" y="1188779"/>
                      <a:pt x="1956819" y="1196981"/>
                      <a:pt x="1950772" y="1203028"/>
                    </a:cubicBezTo>
                    <a:cubicBezTo>
                      <a:pt x="1944725" y="1209075"/>
                      <a:pt x="1936522" y="1212473"/>
                      <a:pt x="1927970" y="1212473"/>
                    </a:cubicBezTo>
                    <a:lnTo>
                      <a:pt x="32246" y="1212473"/>
                    </a:lnTo>
                    <a:cubicBezTo>
                      <a:pt x="23694" y="1212473"/>
                      <a:pt x="15492" y="1209075"/>
                      <a:pt x="9445" y="1203028"/>
                    </a:cubicBezTo>
                    <a:cubicBezTo>
                      <a:pt x="3397" y="1196981"/>
                      <a:pt x="0" y="1188779"/>
                      <a:pt x="0" y="1180226"/>
                    </a:cubicBezTo>
                    <a:lnTo>
                      <a:pt x="0" y="32246"/>
                    </a:lnTo>
                    <a:cubicBezTo>
                      <a:pt x="0" y="23694"/>
                      <a:pt x="3397" y="15492"/>
                      <a:pt x="9445" y="9445"/>
                    </a:cubicBezTo>
                    <a:cubicBezTo>
                      <a:pt x="15492" y="3397"/>
                      <a:pt x="23694" y="0"/>
                      <a:pt x="32246" y="0"/>
                    </a:cubicBezTo>
                    <a:close/>
                  </a:path>
                </a:pathLst>
              </a:custGeom>
              <a:solidFill>
                <a:srgbClr val="0D7D8A"/>
              </a:solidFill>
              <a:ln w="104775" cap="rnd">
                <a:solidFill>
                  <a:srgbClr val="0D7D8A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9050"/>
                <a:ext cx="1960217" cy="1231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87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408673" y="651742"/>
              <a:ext cx="9923597" cy="9641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16"/>
                </a:lnSpc>
              </a:pPr>
              <a:r>
                <a:rPr lang="en-US" sz="4800" b="1">
                  <a:solidFill>
                    <a:srgbClr val="FFF8EB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OBJECTIVE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07179" y="1863322"/>
              <a:ext cx="7422823" cy="2635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16"/>
                </a:lnSpc>
                <a:spcBef>
                  <a:spcPct val="0"/>
                </a:spcBef>
              </a:pPr>
              <a:r>
                <a:rPr lang="en-US" sz="2400" spc="-93">
                  <a:solidFill>
                    <a:srgbClr val="FFF8EB"/>
                  </a:solidFill>
                  <a:latin typeface="Poppins"/>
                  <a:ea typeface="Poppins"/>
                  <a:cs typeface="Poppins"/>
                  <a:sym typeface="Poppins"/>
                </a:rPr>
                <a:t>As a Data Analyst Intern at AtliQ Technologies, my role is to analyze Shield Insurance’s data and deliver actionable insights through an interactive and visually engaging Power BI dashboard.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516475" y="-2211852"/>
            <a:ext cx="1818533" cy="7476637"/>
            <a:chOff x="0" y="0"/>
            <a:chExt cx="478955" cy="19691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124340" y="5941902"/>
            <a:ext cx="1818533" cy="7476637"/>
            <a:chOff x="0" y="0"/>
            <a:chExt cx="478955" cy="19691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-628656"/>
            <a:ext cx="1543544" cy="4962451"/>
            <a:chOff x="0" y="0"/>
            <a:chExt cx="406530" cy="13069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530" cy="1306983"/>
            </a:xfrm>
            <a:custGeom>
              <a:avLst/>
              <a:gdLst/>
              <a:ahLst/>
              <a:cxnLst/>
              <a:rect l="l" t="t" r="r" b="b"/>
              <a:pathLst>
                <a:path w="406530" h="1306983">
                  <a:moveTo>
                    <a:pt x="0" y="0"/>
                  </a:moveTo>
                  <a:lnTo>
                    <a:pt x="406530" y="0"/>
                  </a:lnTo>
                  <a:lnTo>
                    <a:pt x="406530" y="1306983"/>
                  </a:lnTo>
                  <a:lnTo>
                    <a:pt x="0" y="1306983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06530" cy="1326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74979" y="4515498"/>
            <a:ext cx="6538041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DASHBOARD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59300" y="4333795"/>
            <a:ext cx="1818533" cy="7476637"/>
            <a:chOff x="0" y="0"/>
            <a:chExt cx="478955" cy="19691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955" cy="1969155"/>
            </a:xfrm>
            <a:custGeom>
              <a:avLst/>
              <a:gdLst/>
              <a:ahLst/>
              <a:cxnLst/>
              <a:rect l="l" t="t" r="r" b="b"/>
              <a:pathLst>
                <a:path w="478955" h="1969155">
                  <a:moveTo>
                    <a:pt x="0" y="0"/>
                  </a:moveTo>
                  <a:lnTo>
                    <a:pt x="478955" y="0"/>
                  </a:lnTo>
                  <a:lnTo>
                    <a:pt x="478955" y="1969155"/>
                  </a:lnTo>
                  <a:lnTo>
                    <a:pt x="0" y="1969155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78955" cy="1988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9248" y="1238482"/>
            <a:ext cx="15349504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959215"/>
            <a:ext cx="9144000" cy="327785"/>
            <a:chOff x="0" y="0"/>
            <a:chExt cx="2408296" cy="863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9959215"/>
            <a:ext cx="9144000" cy="327785"/>
            <a:chOff x="0" y="0"/>
            <a:chExt cx="2408296" cy="86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69248" y="2823328"/>
            <a:ext cx="15349504" cy="131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3"/>
              </a:lnSpc>
            </a:pPr>
            <a:r>
              <a:rPr lang="en-US" sz="2599" b="1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Trends: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Highest revenue was generated in March 2023 (~₹263M).</a:t>
            </a:r>
          </a:p>
          <a:p>
            <a:pPr marL="518160" lvl="1" indent="-259080" algn="just">
              <a:lnSpc>
                <a:spcPts val="2400"/>
              </a:lnSpc>
              <a:buFont typeface="Arial"/>
              <a:buChar char="•"/>
            </a:pPr>
            <a:r>
              <a:rPr lang="en-US" sz="2400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Lowest revenue was in November 2022 (~₹132M).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248" y="4551369"/>
            <a:ext cx="15349504" cy="122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9"/>
              </a:lnSpc>
            </a:pPr>
            <a:r>
              <a:rPr lang="en-US" sz="2599" b="1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City-Wise Performance:</a:t>
            </a:r>
          </a:p>
          <a:p>
            <a:pPr marL="518160" lvl="1" indent="-259080" algn="just">
              <a:lnSpc>
                <a:spcPts val="2400"/>
              </a:lnSpc>
              <a:buFont typeface="Arial"/>
              <a:buChar char="•"/>
            </a:pPr>
            <a:r>
              <a:rPr lang="en-US" sz="2400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Delhi NCR is the top revenue contributor, driven by a high customer base.</a:t>
            </a:r>
          </a:p>
          <a:p>
            <a:pPr marL="518160" lvl="1" indent="-259080" algn="just">
              <a:lnSpc>
                <a:spcPts val="3479"/>
              </a:lnSpc>
              <a:buFont typeface="Arial"/>
              <a:buChar char="•"/>
            </a:pPr>
            <a:r>
              <a:rPr lang="en-US" sz="2400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Indore lags behind due to fewer customers.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9248" y="6197208"/>
            <a:ext cx="15349504" cy="134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sz="2599" b="1" u="none" strike="noStrike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Age Group Preferences:</a:t>
            </a:r>
          </a:p>
          <a:p>
            <a:pPr marL="518160" lvl="1" indent="-259080" algn="just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31–40 age group forms the largest customer base.</a:t>
            </a:r>
          </a:p>
          <a:p>
            <a:pPr marL="518160" lvl="1" indent="-259080" algn="just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17–24 group has the small share of customers.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-2764142" y="4424372"/>
            <a:ext cx="4744435" cy="1713797"/>
            <a:chOff x="0" y="0"/>
            <a:chExt cx="1249563" cy="4513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9563" cy="451371"/>
            </a:xfrm>
            <a:custGeom>
              <a:avLst/>
              <a:gdLst/>
              <a:ahLst/>
              <a:cxnLst/>
              <a:rect l="l" t="t" r="r" b="b"/>
              <a:pathLst>
                <a:path w="1249563" h="451371">
                  <a:moveTo>
                    <a:pt x="0" y="0"/>
                  </a:moveTo>
                  <a:lnTo>
                    <a:pt x="1249563" y="0"/>
                  </a:lnTo>
                  <a:lnTo>
                    <a:pt x="1249563" y="451371"/>
                  </a:lnTo>
                  <a:lnTo>
                    <a:pt x="0" y="451371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249563" cy="470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9248" y="1238482"/>
            <a:ext cx="15349504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959215"/>
            <a:ext cx="9144000" cy="327785"/>
            <a:chOff x="0" y="0"/>
            <a:chExt cx="2408296" cy="863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9959215"/>
            <a:ext cx="9144000" cy="327785"/>
            <a:chOff x="0" y="0"/>
            <a:chExt cx="2408296" cy="86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69248" y="2939255"/>
            <a:ext cx="15349504" cy="134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sz="2599" b="1" u="none" strike="noStrike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Sales Channel Insights:</a:t>
            </a:r>
          </a:p>
          <a:p>
            <a:pPr marL="518160" lvl="1" indent="-259080" algn="just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Offline Agents remain the preferred mode, contributing ~55% to both revenue and customers.</a:t>
            </a:r>
          </a:p>
          <a:p>
            <a:pPr marL="518160" lvl="1" indent="-259080" algn="just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Online channels are steadily growing, indicating a shift in customer behavior.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248" y="4752342"/>
            <a:ext cx="15349504" cy="223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sz="2599" b="1" u="none" strike="noStrike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Policy Performance: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 u="none" strike="noStrike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POL2005HEL generates the highest revenue, , despite a smaller user base, popular among 31–40 and 65+ age groups.</a:t>
            </a:r>
          </a:p>
          <a:p>
            <a:pPr marL="518160" lvl="1" indent="-259080" algn="just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POL4321HEL has the largest customer base, mostly from the 17–40 age range-possibly due to more affordable pricing.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-2764142" y="4424372"/>
            <a:ext cx="4744435" cy="1713797"/>
            <a:chOff x="0" y="0"/>
            <a:chExt cx="1249563" cy="4513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9563" cy="451371"/>
            </a:xfrm>
            <a:custGeom>
              <a:avLst/>
              <a:gdLst/>
              <a:ahLst/>
              <a:cxnLst/>
              <a:rect l="l" t="t" r="r" b="b"/>
              <a:pathLst>
                <a:path w="1249563" h="451371">
                  <a:moveTo>
                    <a:pt x="0" y="0"/>
                  </a:moveTo>
                  <a:lnTo>
                    <a:pt x="1249563" y="0"/>
                  </a:lnTo>
                  <a:lnTo>
                    <a:pt x="1249563" y="451371"/>
                  </a:lnTo>
                  <a:lnTo>
                    <a:pt x="0" y="451371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49563" cy="470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9248" y="1238482"/>
            <a:ext cx="15349504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RECOMMENDATIONS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959215"/>
            <a:ext cx="9144000" cy="327785"/>
            <a:chOff x="0" y="0"/>
            <a:chExt cx="2408296" cy="863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9959215"/>
            <a:ext cx="9144000" cy="327785"/>
            <a:chOff x="0" y="0"/>
            <a:chExt cx="2408296" cy="86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90729" y="3135887"/>
            <a:ext cx="15349504" cy="20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3"/>
              </a:lnSpc>
            </a:pPr>
            <a:r>
              <a:rPr lang="en-US" sz="2599" b="1" spc="-142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Capitalize on High-Performing Regions</a:t>
            </a:r>
          </a:p>
          <a:p>
            <a:pPr marL="518160" lvl="1" indent="-259080" algn="just">
              <a:lnSpc>
                <a:spcPts val="3096"/>
              </a:lnSpc>
              <a:buFont typeface="Arial"/>
              <a:buChar char="•"/>
            </a:pPr>
            <a:r>
              <a:rPr lang="en-US" sz="2400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Focus on Delhi-NCR with campaigns, exclusive policy bundles and loyalty programs - as this city is highest revenue contributor.</a:t>
            </a:r>
          </a:p>
          <a:p>
            <a:pPr marL="518160" lvl="1" indent="-259080" algn="just">
              <a:lnSpc>
                <a:spcPts val="3096"/>
              </a:lnSpc>
              <a:buFont typeface="Arial"/>
              <a:buChar char="•"/>
            </a:pPr>
            <a:r>
              <a:rPr lang="en-US" sz="2400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Indore needs a boost - consider local campaigns to raise awareness, highlight best-selling policies  or offer first-time buyer discounts to expand the customer base.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729" y="5786901"/>
            <a:ext cx="15349504" cy="160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3"/>
              </a:lnSpc>
            </a:pPr>
            <a:r>
              <a:rPr lang="en-US" sz="2599" b="1" spc="-142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Strengthen Digital Channels</a:t>
            </a:r>
          </a:p>
          <a:p>
            <a:pPr marL="518160" lvl="1" indent="-259080" algn="just">
              <a:lnSpc>
                <a:spcPts val="3096"/>
              </a:lnSpc>
              <a:buFont typeface="Arial"/>
              <a:buChar char="•"/>
            </a:pPr>
            <a:r>
              <a:rPr lang="en-US" sz="2400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Improve the app and website experience  - make it faster, easier, and more user-friendly.</a:t>
            </a:r>
          </a:p>
          <a:p>
            <a:pPr marL="518160" lvl="1" indent="-259080" algn="just">
              <a:lnSpc>
                <a:spcPts val="3096"/>
              </a:lnSpc>
              <a:buFont typeface="Arial"/>
              <a:buChar char="•"/>
            </a:pPr>
            <a:r>
              <a:rPr lang="en-US" sz="2400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Try digital-exclusive offers (e.g. lower premiums or cashback) to further encourage users to switch to online channels.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-2980380" y="4761396"/>
            <a:ext cx="5468203" cy="1323876"/>
            <a:chOff x="0" y="0"/>
            <a:chExt cx="1440185" cy="3486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185" cy="348675"/>
            </a:xfrm>
            <a:custGeom>
              <a:avLst/>
              <a:gdLst/>
              <a:ahLst/>
              <a:cxnLst/>
              <a:rect l="l" t="t" r="r" b="b"/>
              <a:pathLst>
                <a:path w="1440185" h="348675">
                  <a:moveTo>
                    <a:pt x="0" y="0"/>
                  </a:moveTo>
                  <a:lnTo>
                    <a:pt x="1440185" y="0"/>
                  </a:lnTo>
                  <a:lnTo>
                    <a:pt x="1440185" y="348675"/>
                  </a:lnTo>
                  <a:lnTo>
                    <a:pt x="0" y="348675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40185" cy="367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9248" y="1238482"/>
            <a:ext cx="15349504" cy="123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sz="8000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RECOMMENDATIONS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959215"/>
            <a:ext cx="9144000" cy="327785"/>
            <a:chOff x="0" y="0"/>
            <a:chExt cx="2408296" cy="863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9959215"/>
            <a:ext cx="9144000" cy="327785"/>
            <a:chOff x="0" y="0"/>
            <a:chExt cx="2408296" cy="86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8296" cy="86330"/>
            </a:xfrm>
            <a:custGeom>
              <a:avLst/>
              <a:gdLst/>
              <a:ahLst/>
              <a:cxnLst/>
              <a:rect l="l" t="t" r="r" b="b"/>
              <a:pathLst>
                <a:path w="2408296" h="86330">
                  <a:moveTo>
                    <a:pt x="0" y="0"/>
                  </a:moveTo>
                  <a:lnTo>
                    <a:pt x="2408296" y="0"/>
                  </a:lnTo>
                  <a:lnTo>
                    <a:pt x="2408296" y="86330"/>
                  </a:lnTo>
                  <a:lnTo>
                    <a:pt x="0" y="86330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408296" cy="105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69248" y="5385745"/>
            <a:ext cx="15349504" cy="20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3"/>
              </a:lnSpc>
              <a:spcBef>
                <a:spcPct val="0"/>
              </a:spcBef>
            </a:pPr>
            <a:r>
              <a:rPr lang="en-US" sz="2599" b="1" u="none" strike="noStrike" spc="-142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Leverage Policy-Specific Insights</a:t>
            </a:r>
          </a:p>
          <a:p>
            <a:pPr marL="518160" lvl="1" indent="-259080" algn="just">
              <a:lnSpc>
                <a:spcPts val="3096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POL2005HEL has high revenue with a small user base - introduce flexible premium versions or EMI-based options to attract more buyers.</a:t>
            </a:r>
          </a:p>
          <a:p>
            <a:pPr marL="518160" lvl="1" indent="-259080" algn="just">
              <a:lnSpc>
                <a:spcPts val="3096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POL4321HEL, with the highest user base, add small upgrades or extras to this plan so increase per user revenue.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248" y="3128428"/>
            <a:ext cx="15349504" cy="160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3"/>
              </a:lnSpc>
              <a:spcBef>
                <a:spcPct val="0"/>
              </a:spcBef>
            </a:pPr>
            <a:r>
              <a:rPr lang="en-US" sz="2599" b="1" spc="-142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Ag</a:t>
            </a:r>
            <a:r>
              <a:rPr lang="en-US" sz="2599" b="1" u="none" strike="noStrike" spc="-142" dirty="0">
                <a:solidFill>
                  <a:srgbClr val="FF961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e-Based Strategy</a:t>
            </a:r>
          </a:p>
          <a:p>
            <a:pPr marL="518160" lvl="1" indent="-259080" algn="just">
              <a:lnSpc>
                <a:spcPts val="3096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Focus on 31–40 age group with bundled plans (e.g. health + term), use testimonials of real users from this age group to increase trust.</a:t>
            </a:r>
          </a:p>
          <a:p>
            <a:pPr marL="518160" lvl="1" indent="-259080" algn="just">
              <a:lnSpc>
                <a:spcPts val="3096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 spc="-132" dirty="0">
                <a:solidFill>
                  <a:srgbClr val="0D7D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17–30 age group, run awareness programs through social media platforms .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-2965503" y="4761907"/>
            <a:ext cx="5438450" cy="1323876"/>
            <a:chOff x="0" y="0"/>
            <a:chExt cx="1432349" cy="3486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2349" cy="348675"/>
            </a:xfrm>
            <a:custGeom>
              <a:avLst/>
              <a:gdLst/>
              <a:ahLst/>
              <a:cxnLst/>
              <a:rect l="l" t="t" r="r" b="b"/>
              <a:pathLst>
                <a:path w="1432349" h="348675">
                  <a:moveTo>
                    <a:pt x="0" y="0"/>
                  </a:moveTo>
                  <a:lnTo>
                    <a:pt x="1432349" y="0"/>
                  </a:lnTo>
                  <a:lnTo>
                    <a:pt x="1432349" y="348675"/>
                  </a:lnTo>
                  <a:lnTo>
                    <a:pt x="0" y="348675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32349" cy="367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10153" y="8291125"/>
            <a:ext cx="18417781" cy="367232"/>
            <a:chOff x="0" y="0"/>
            <a:chExt cx="4850774" cy="96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50774" cy="96720"/>
            </a:xfrm>
            <a:custGeom>
              <a:avLst/>
              <a:gdLst/>
              <a:ahLst/>
              <a:cxnLst/>
              <a:rect l="l" t="t" r="r" b="b"/>
              <a:pathLst>
                <a:path w="4850774" h="96720">
                  <a:moveTo>
                    <a:pt x="0" y="0"/>
                  </a:moveTo>
                  <a:lnTo>
                    <a:pt x="4850774" y="0"/>
                  </a:lnTo>
                  <a:lnTo>
                    <a:pt x="4850774" y="96720"/>
                  </a:lnTo>
                  <a:lnTo>
                    <a:pt x="0" y="96720"/>
                  </a:lnTo>
                  <a:close/>
                </a:path>
              </a:pathLst>
            </a:custGeom>
            <a:solidFill>
              <a:srgbClr val="FF96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50774" cy="115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07628" y="8891068"/>
            <a:ext cx="18417781" cy="367232"/>
            <a:chOff x="0" y="0"/>
            <a:chExt cx="4850774" cy="967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50774" cy="96720"/>
            </a:xfrm>
            <a:custGeom>
              <a:avLst/>
              <a:gdLst/>
              <a:ahLst/>
              <a:cxnLst/>
              <a:rect l="l" t="t" r="r" b="b"/>
              <a:pathLst>
                <a:path w="4850774" h="96720">
                  <a:moveTo>
                    <a:pt x="0" y="0"/>
                  </a:moveTo>
                  <a:lnTo>
                    <a:pt x="4850774" y="0"/>
                  </a:lnTo>
                  <a:lnTo>
                    <a:pt x="4850774" y="96720"/>
                  </a:lnTo>
                  <a:lnTo>
                    <a:pt x="0" y="96720"/>
                  </a:lnTo>
                  <a:close/>
                </a:path>
              </a:pathLst>
            </a:custGeom>
            <a:solidFill>
              <a:srgbClr val="0D7D8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850774" cy="115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14191" y="3222535"/>
            <a:ext cx="12272886" cy="254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26"/>
              </a:lnSpc>
            </a:pPr>
            <a:r>
              <a:rPr lang="en-US" sz="16551" b="1">
                <a:solidFill>
                  <a:srgbClr val="0D7D8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497</Words>
  <Application>Microsoft Office PowerPoint</Application>
  <PresentationFormat>Custom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Calibri</vt:lpstr>
      <vt:lpstr>Cooper Hewitt Bold</vt:lpstr>
      <vt:lpstr>Poppins Italics</vt:lpstr>
      <vt:lpstr>Poppins Bold</vt:lpstr>
      <vt:lpstr>Poppins</vt:lpstr>
      <vt:lpstr>Poppins Medium</vt:lpstr>
      <vt:lpstr>Poppins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insurance</dc:title>
  <cp:lastModifiedBy>Neha Jangir</cp:lastModifiedBy>
  <cp:revision>3</cp:revision>
  <dcterms:created xsi:type="dcterms:W3CDTF">2006-08-16T00:00:00Z</dcterms:created>
  <dcterms:modified xsi:type="dcterms:W3CDTF">2025-04-25T05:53:04Z</dcterms:modified>
  <dc:identifier>DAGld_ik8pI</dc:identifier>
</cp:coreProperties>
</file>